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3"/>
    </p:embeddedFont>
    <p:embeddedFont>
      <p:font typeface="Consolas Bold" charset="1" panose="020B0709020204030204"/>
      <p:regular r:id="rId25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2B3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028090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61920" y="5212080"/>
            <a:ext cx="6172200" cy="6172200"/>
            <a:chOff x="0" y="0"/>
            <a:chExt cx="8229600" cy="822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02C39A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630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45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PROGRAMAÇÃO WEB II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811780"/>
            <a:ext cx="14401800" cy="1645920"/>
            <a:chOff x="0" y="0"/>
            <a:chExt cx="192024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92024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 de Login e CRUD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4320540"/>
            <a:ext cx="13030200" cy="960120"/>
            <a:chOff x="0" y="0"/>
            <a:chExt cx="1737360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3736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D7ECE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Projeto “Lista de Amigos” — autenticação, sessões, cookies e proteção de acesso em PHP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29580">
            <a:off x="1078144" y="5545455"/>
            <a:ext cx="4427382" cy="0"/>
          </a:xfrm>
          <a:prstGeom prst="line">
            <a:avLst/>
          </a:prstGeom>
          <a:ln cap="rnd" w="19050">
            <a:solidFill>
              <a:srgbClr val="02C3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97280" y="8983980"/>
            <a:ext cx="12344400" cy="548640"/>
            <a:chOff x="0" y="0"/>
            <a:chExt cx="164592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45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Apresentado por Adrielle•  Disciplina: Agenda 08 Desenvolvimento de Sistemas II  •  GEEaD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Visão geral do projeto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 que o sistema entrega e com quais tecnologias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229600" cy="6720840"/>
            <a:chOff x="0" y="0"/>
            <a:chExt cx="10972800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972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89920" y="0"/>
                  </a:lnTo>
                  <a:cubicBezTo>
                    <a:pt x="10890885" y="0"/>
                    <a:pt x="10972800" y="81915"/>
                    <a:pt x="10972800" y="182880"/>
                  </a:cubicBezTo>
                  <a:lnTo>
                    <a:pt x="10972800" y="8778240"/>
                  </a:lnTo>
                  <a:cubicBezTo>
                    <a:pt x="10972800" y="8879205"/>
                    <a:pt x="10890885" y="8961120"/>
                    <a:pt x="10789920" y="8961120"/>
                  </a:cubicBezTo>
                  <a:lnTo>
                    <a:pt x="182880" y="8961120"/>
                  </a:lnTo>
                  <a:cubicBezTo>
                    <a:pt x="81915" y="8961120"/>
                    <a:pt x="0" y="8879205"/>
                    <a:pt x="0" y="8778240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674620"/>
            <a:ext cx="6858000" cy="548640"/>
            <a:chOff x="0" y="0"/>
            <a:chExt cx="9144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291840"/>
            <a:ext cx="7269480" cy="2057400"/>
            <a:chOff x="0" y="0"/>
            <a:chExt cx="9692640" cy="274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692640" cy="2847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Evoluir o cadastro de amigos restringindo o acesso: só quem faz login visualiza e mantém os dados, com a sessão protegendo cada página do CRUD contra acesso direto pela URL.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5596128"/>
            <a:ext cx="192024" cy="192024"/>
            <a:chOff x="0" y="0"/>
            <a:chExt cx="25603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14500" y="5427726"/>
            <a:ext cx="6858000" cy="576072"/>
            <a:chOff x="0" y="0"/>
            <a:chExt cx="91440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validado no banco de dados (MySQLi)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6227064"/>
            <a:ext cx="192024" cy="192024"/>
            <a:chOff x="0" y="0"/>
            <a:chExt cx="256032" cy="2560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14500" y="6051423"/>
            <a:ext cx="6858000" cy="576072"/>
            <a:chOff x="0" y="0"/>
            <a:chExt cx="9144000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Sessões PHP ($_SESSION) mantendo o usuário autenticado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3020" y="6858000"/>
            <a:ext cx="192024" cy="192024"/>
            <a:chOff x="0" y="0"/>
            <a:chExt cx="256032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4500" y="6684645"/>
            <a:ext cx="6858000" cy="576072"/>
            <a:chOff x="0" y="0"/>
            <a:chExt cx="9144000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Bloqueio de acesso direto às páginas via URL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3020" y="7488936"/>
            <a:ext cx="192024" cy="192024"/>
            <a:chOff x="0" y="0"/>
            <a:chExt cx="256032" cy="256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14500" y="7308342"/>
            <a:ext cx="6858000" cy="576072"/>
            <a:chOff x="0" y="0"/>
            <a:chExt cx="914400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Reuso de código com include / require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03020" y="8119872"/>
            <a:ext cx="192024" cy="192024"/>
            <a:chOff x="0" y="0"/>
            <a:chExt cx="256032" cy="256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14500" y="7932039"/>
            <a:ext cx="6858000" cy="576072"/>
            <a:chOff x="0" y="0"/>
            <a:chExt cx="914400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Cookies para lembrar preferências do usuário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95460" y="2331720"/>
            <a:ext cx="8023860" cy="6720840"/>
            <a:chOff x="0" y="0"/>
            <a:chExt cx="10698480" cy="896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98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8778240"/>
                  </a:lnTo>
                  <a:cubicBezTo>
                    <a:pt x="10698480" y="8879205"/>
                    <a:pt x="10616565" y="8961120"/>
                    <a:pt x="10515600" y="8961120"/>
                  </a:cubicBezTo>
                  <a:lnTo>
                    <a:pt x="182880" y="8961120"/>
                  </a:lnTo>
                  <a:cubicBezTo>
                    <a:pt x="81915" y="8961120"/>
                    <a:pt x="0" y="8879205"/>
                    <a:pt x="0" y="8778240"/>
                  </a:cubicBezTo>
                  <a:close/>
                </a:path>
              </a:pathLst>
            </a:custGeom>
            <a:solidFill>
              <a:srgbClr val="022B3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75520" y="2674620"/>
            <a:ext cx="6858000" cy="548640"/>
            <a:chOff x="0" y="0"/>
            <a:chExt cx="914400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Stack utilizada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75520" y="349758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875520" y="3497580"/>
            <a:ext cx="754380" cy="754380"/>
            <a:chOff x="0" y="0"/>
            <a:chExt cx="100584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04220" y="3470148"/>
            <a:ext cx="6172200" cy="480060"/>
            <a:chOff x="0" y="0"/>
            <a:chExt cx="822960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82296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PHP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04220" y="3798570"/>
            <a:ext cx="6309360" cy="548640"/>
            <a:chOff x="0" y="0"/>
            <a:chExt cx="84124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Lógica de servidor e controle de sessão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4663440"/>
            <a:ext cx="754380" cy="754380"/>
            <a:chOff x="0" y="0"/>
            <a:chExt cx="100584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4663440"/>
            <a:ext cx="754380" cy="754380"/>
            <a:chOff x="0" y="0"/>
            <a:chExt cx="10058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04220" y="4636008"/>
            <a:ext cx="6172200" cy="480060"/>
            <a:chOff x="0" y="0"/>
            <a:chExt cx="82296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82296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904220" y="5033010"/>
            <a:ext cx="6309360" cy="548640"/>
            <a:chOff x="0" y="0"/>
            <a:chExt cx="841248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Conexão e consultas ao banco pwii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5829300"/>
            <a:ext cx="754380" cy="754380"/>
            <a:chOff x="0" y="0"/>
            <a:chExt cx="1005840" cy="1005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75520" y="5829300"/>
            <a:ext cx="754380" cy="754380"/>
            <a:chOff x="0" y="0"/>
            <a:chExt cx="100584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04220" y="5801868"/>
            <a:ext cx="6172200" cy="480060"/>
            <a:chOff x="0" y="0"/>
            <a:chExt cx="8229600" cy="640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82296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+ W3.CSS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904220" y="6196965"/>
            <a:ext cx="6309360" cy="548640"/>
            <a:chOff x="0" y="0"/>
            <a:chExt cx="84124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Formulários e layout responsivo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75520" y="6995160"/>
            <a:ext cx="754380" cy="754380"/>
            <a:chOff x="0" y="0"/>
            <a:chExt cx="1005840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875520" y="6995160"/>
            <a:ext cx="754380" cy="754380"/>
            <a:chOff x="0" y="0"/>
            <a:chExt cx="1005840" cy="10058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04220" y="6967728"/>
            <a:ext cx="6172200" cy="480060"/>
            <a:chOff x="0" y="0"/>
            <a:chExt cx="8229600" cy="6400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82296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/ Cookie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904220" y="7397115"/>
            <a:ext cx="6309360" cy="548640"/>
            <a:chOff x="0" y="0"/>
            <a:chExt cx="841248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8412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 do usuário entre páginas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7089" y="736221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de arquivos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7089" y="169164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Como as páginas se conectam usando include / require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880360"/>
            <a:ext cx="3497580" cy="1577340"/>
            <a:chOff x="0" y="0"/>
            <a:chExt cx="4663440" cy="2103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34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66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304"/>
                  </a:cubicBezTo>
                  <a:lnTo>
                    <a:pt x="4663440" y="1956816"/>
                  </a:lnTo>
                  <a:cubicBezTo>
                    <a:pt x="4663440" y="2037588"/>
                    <a:pt x="4597908" y="2103120"/>
                    <a:pt x="451713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880360"/>
            <a:ext cx="3223260" cy="1577340"/>
            <a:chOff x="0" y="0"/>
            <a:chExt cx="4297680" cy="2103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976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86" t="0" r="-1278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976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index.php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(login)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57700" y="2880360"/>
            <a:ext cx="480060" cy="1577340"/>
            <a:chOff x="0" y="0"/>
            <a:chExt cx="64008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68" t="0" r="-37156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64008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2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37760" y="2880360"/>
            <a:ext cx="3497580" cy="1577340"/>
            <a:chOff x="0" y="0"/>
            <a:chExt cx="4663440" cy="2103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634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66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304"/>
                  </a:cubicBezTo>
                  <a:lnTo>
                    <a:pt x="4663440" y="1956816"/>
                  </a:lnTo>
                  <a:cubicBezTo>
                    <a:pt x="4663440" y="2037588"/>
                    <a:pt x="4597908" y="2103120"/>
                    <a:pt x="451713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4920" y="2880360"/>
            <a:ext cx="3223260" cy="1577340"/>
            <a:chOff x="0" y="0"/>
            <a:chExt cx="4297680" cy="2103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76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86" t="0" r="-1278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2976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loginAction.php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(valida no banco)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35340" y="2880360"/>
            <a:ext cx="480060" cy="1577340"/>
            <a:chOff x="0" y="0"/>
            <a:chExt cx="64008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68" t="0" r="-37156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4008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2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15400" y="2880360"/>
            <a:ext cx="3497580" cy="1577340"/>
            <a:chOff x="0" y="0"/>
            <a:chExt cx="4663440" cy="2103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634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66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304"/>
                  </a:cubicBezTo>
                  <a:lnTo>
                    <a:pt x="4663440" y="1956816"/>
                  </a:lnTo>
                  <a:cubicBezTo>
                    <a:pt x="4663440" y="2037588"/>
                    <a:pt x="4597908" y="2103120"/>
                    <a:pt x="451713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52560" y="2880360"/>
            <a:ext cx="3223260" cy="1577340"/>
            <a:chOff x="0" y="0"/>
            <a:chExt cx="4297680" cy="2103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976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86" t="0" r="-1278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2976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principal.php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(CRUD amigos)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12980" y="2880360"/>
            <a:ext cx="480060" cy="1577340"/>
            <a:chOff x="0" y="0"/>
            <a:chExt cx="64008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68" t="0" r="-37156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64008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2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93040" y="2880360"/>
            <a:ext cx="3497580" cy="1577340"/>
            <a:chOff x="0" y="0"/>
            <a:chExt cx="4663440" cy="2103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663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304"/>
                  </a:cubicBezTo>
                  <a:lnTo>
                    <a:pt x="4663440" y="1956816"/>
                  </a:lnTo>
                  <a:cubicBezTo>
                    <a:pt x="4663440" y="2037588"/>
                    <a:pt x="4597908" y="2103120"/>
                    <a:pt x="451713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0" y="2880360"/>
            <a:ext cx="3223260" cy="1577340"/>
            <a:chOff x="0" y="0"/>
            <a:chExt cx="4297680" cy="2103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86" t="0" r="-1278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29768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logoutAction.php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(encerra sessão)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" y="5143500"/>
            <a:ext cx="13716000" cy="548640"/>
            <a:chOff x="0" y="0"/>
            <a:chExt cx="182880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Arquivos de apoio, incluídos com require_once em todas as páginas: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5829300"/>
            <a:ext cx="7680960" cy="1303020"/>
            <a:chOff x="0" y="0"/>
            <a:chExt cx="1024128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1591056"/>
                  </a:lnTo>
                  <a:cubicBezTo>
                    <a:pt x="10241280" y="1671828"/>
                    <a:pt x="10175748" y="1737360"/>
                    <a:pt x="10094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" y="5939028"/>
            <a:ext cx="7132320" cy="480060"/>
            <a:chOff x="0" y="0"/>
            <a:chExt cx="950976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conexaoBD.php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4440" y="6405372"/>
            <a:ext cx="7132320" cy="658368"/>
            <a:chOff x="0" y="0"/>
            <a:chExt cx="950976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 a conexão MySQLi — muda a senha do banco em um único lugar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52560" y="5829300"/>
            <a:ext cx="7680960" cy="1303020"/>
            <a:chOff x="0" y="0"/>
            <a:chExt cx="10241280" cy="1737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1591056"/>
                  </a:lnTo>
                  <a:cubicBezTo>
                    <a:pt x="10241280" y="1671828"/>
                    <a:pt x="10175748" y="1737360"/>
                    <a:pt x="10094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26880" y="5939028"/>
            <a:ext cx="7132320" cy="480060"/>
            <a:chOff x="0" y="0"/>
            <a:chExt cx="95097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cabecalho.php / rodape.php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6880" y="6405372"/>
            <a:ext cx="7132320" cy="658368"/>
            <a:chOff x="0" y="0"/>
            <a:chExt cx="950976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compartilhado no topo e no rodapé de cada página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" y="7406640"/>
            <a:ext cx="7680960" cy="1303020"/>
            <a:chOff x="0" y="0"/>
            <a:chExt cx="1024128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1591056"/>
                  </a:lnTo>
                  <a:cubicBezTo>
                    <a:pt x="10241280" y="1671828"/>
                    <a:pt x="10175748" y="1737360"/>
                    <a:pt x="10094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" y="7516368"/>
            <a:ext cx="7132320" cy="480060"/>
            <a:chOff x="0" y="0"/>
            <a:chExt cx="950976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verificarAcesso.php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4440" y="7982712"/>
            <a:ext cx="7132320" cy="658368"/>
            <a:chOff x="0" y="0"/>
            <a:chExt cx="9509760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Confere a sessão e bloqueia quem tenta entrar direto pela URL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052560" y="7406640"/>
            <a:ext cx="7680960" cy="1303020"/>
            <a:chOff x="0" y="0"/>
            <a:chExt cx="10241280" cy="1737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1591056"/>
                  </a:lnTo>
                  <a:cubicBezTo>
                    <a:pt x="10241280" y="1671828"/>
                    <a:pt x="10175748" y="1737360"/>
                    <a:pt x="10094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326880" y="7516368"/>
            <a:ext cx="7132320" cy="480060"/>
            <a:chOff x="0" y="0"/>
            <a:chExt cx="950976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acessoNegado.php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26880" y="7982712"/>
            <a:ext cx="7132320" cy="658368"/>
            <a:chOff x="0" y="0"/>
            <a:chExt cx="950976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509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Tela exibida quando não há login ativo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765792"/>
            <a:ext cx="12344400" cy="411480"/>
            <a:chOff x="0" y="0"/>
            <a:chExt cx="164592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require_once evita reimportar o mesmo arquivo e perder variáveis já definidas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960120" y="895350"/>
            <a:ext cx="1131599" cy="1137285"/>
          </a:xfrm>
          <a:custGeom>
            <a:avLst/>
            <a:gdLst/>
            <a:ahLst/>
            <a:cxnLst/>
            <a:rect r="r" b="b" t="t" l="l"/>
            <a:pathLst>
              <a:path h="1137285" w="1131599">
                <a:moveTo>
                  <a:pt x="0" y="0"/>
                </a:moveTo>
                <a:lnTo>
                  <a:pt x="1131599" y="0"/>
                </a:lnTo>
                <a:lnTo>
                  <a:pt x="1131599" y="1137285"/>
                </a:lnTo>
                <a:lnTo>
                  <a:pt x="0" y="1137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Banco de dados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Tabela usuario — base do login (banco pwii)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0120" y="2468880"/>
          <a:ext cx="8343900" cy="3365500"/>
        </p:xfrm>
        <a:graphic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</a:tblGrid>
              <a:tr h="6119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Campo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Descrição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917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idusuario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INT(11) — PK, auto increment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Identificador único do usuário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7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VARCHAR(45)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Usado no formulário de login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7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senha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VARCHAR(45)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Comparada com o valor digitado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50595" y="6453505"/>
            <a:ext cx="8385810" cy="1596390"/>
            <a:chOff x="0" y="0"/>
            <a:chExt cx="11181080" cy="2128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810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11810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11032998" y="0"/>
                  </a:lnTo>
                  <a:cubicBezTo>
                    <a:pt x="11114786" y="0"/>
                    <a:pt x="11181080" y="66294"/>
                    <a:pt x="11181080" y="148082"/>
                  </a:cubicBezTo>
                  <a:lnTo>
                    <a:pt x="11181080" y="1980438"/>
                  </a:lnTo>
                  <a:cubicBezTo>
                    <a:pt x="11181080" y="2062226"/>
                    <a:pt x="11114786" y="2128520"/>
                    <a:pt x="110329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738360" y="2468880"/>
            <a:ext cx="7612380" cy="4594860"/>
            <a:chOff x="0" y="0"/>
            <a:chExt cx="10149840" cy="6126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49840" cy="6126480"/>
            </a:xfrm>
            <a:custGeom>
              <a:avLst/>
              <a:gdLst/>
              <a:ahLst/>
              <a:cxnLst/>
              <a:rect r="r" b="b" t="t" l="l"/>
              <a:pathLst>
                <a:path h="612648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5943600"/>
                  </a:lnTo>
                  <a:cubicBezTo>
                    <a:pt x="10149840" y="6044565"/>
                    <a:pt x="10067925" y="6126480"/>
                    <a:pt x="9966960" y="6126480"/>
                  </a:cubicBezTo>
                  <a:lnTo>
                    <a:pt x="182880" y="6126480"/>
                  </a:lnTo>
                  <a:cubicBezTo>
                    <a:pt x="81915" y="6126480"/>
                    <a:pt x="0" y="6044565"/>
                    <a:pt x="0" y="5943600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9840" y="2811780"/>
            <a:ext cx="6858000" cy="548640"/>
            <a:chOff x="0" y="0"/>
            <a:chExt cx="9144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 que uma tabela de login?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49840" y="3497580"/>
            <a:ext cx="6789420" cy="3291840"/>
            <a:chOff x="0" y="0"/>
            <a:chExt cx="9052560" cy="4389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525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07" t="0" r="-1220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9052560" cy="4493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HTTP não guarda quem é o visitante entre uma requisição e outra. Por isso o primeiro passo é ter, no banco, um registro para comparar nome e senha recebidos do formulário — só depois disso a sessão entra em ação para manter esse estado.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9765792"/>
            <a:ext cx="12344400" cy="411480"/>
            <a:chOff x="0" y="0"/>
            <a:chExt cx="164592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Diagrama: usuario(idusuario PK, nome, senha)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84280" y="9765792"/>
            <a:ext cx="6172200" cy="411480"/>
            <a:chOff x="0" y="0"/>
            <a:chExt cx="82296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Projeto Lista de Amigos — Login e CRUD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480624" y="1440180"/>
            <a:ext cx="778676" cy="884859"/>
          </a:xfrm>
          <a:custGeom>
            <a:avLst/>
            <a:gdLst/>
            <a:ahLst/>
            <a:cxnLst/>
            <a:rect r="r" b="b" t="t" l="l"/>
            <a:pathLst>
              <a:path h="884859" w="778676">
                <a:moveTo>
                  <a:pt x="0" y="0"/>
                </a:moveTo>
                <a:lnTo>
                  <a:pt x="778676" y="0"/>
                </a:lnTo>
                <a:lnTo>
                  <a:pt x="778676" y="884859"/>
                </a:lnTo>
                <a:lnTo>
                  <a:pt x="0" y="884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03020" y="6633718"/>
            <a:ext cx="7680960" cy="115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INSERT INTO `pwii`.`usuario`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(`nome`, `senha`)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VALUES ('gabi', 'gabi123');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Tela de login — index.php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Formulário simples: nome, senha e envio via POST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2400300"/>
            <a:ext cx="6309360" cy="6583680"/>
            <a:chOff x="0" y="0"/>
            <a:chExt cx="8412480" cy="8778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124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8558784"/>
                  </a:lnTo>
                  <a:cubicBezTo>
                    <a:pt x="8412480" y="8679942"/>
                    <a:pt x="8314182" y="8778240"/>
                    <a:pt x="8193024" y="8778240"/>
                  </a:cubicBezTo>
                  <a:lnTo>
                    <a:pt x="219456" y="8778240"/>
                  </a:lnTo>
                  <a:cubicBezTo>
                    <a:pt x="98298" y="8778240"/>
                    <a:pt x="0" y="8679942"/>
                    <a:pt x="0" y="8558784"/>
                  </a:cubicBezTo>
                  <a:close/>
                </a:path>
              </a:pathLst>
            </a:custGeom>
            <a:solidFill>
              <a:srgbClr val="022B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97580" y="2948940"/>
            <a:ext cx="1508760" cy="1508760"/>
            <a:chOff x="0" y="0"/>
            <a:chExt cx="201168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0196" y="4862036"/>
            <a:ext cx="5363528" cy="768668"/>
            <a:chOff x="0" y="0"/>
            <a:chExt cx="7151370" cy="1024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513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715137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7039610" y="0"/>
                  </a:lnTo>
                  <a:cubicBezTo>
                    <a:pt x="7101332" y="0"/>
                    <a:pt x="7151370" y="50038"/>
                    <a:pt x="7151370" y="111760"/>
                  </a:cubicBezTo>
                  <a:lnTo>
                    <a:pt x="7151370" y="913130"/>
                  </a:lnTo>
                  <a:cubicBezTo>
                    <a:pt x="7151370" y="974852"/>
                    <a:pt x="7101332" y="1024890"/>
                    <a:pt x="7039610" y="1024890"/>
                  </a:cubicBezTo>
                  <a:lnTo>
                    <a:pt x="111760" y="1024890"/>
                  </a:lnTo>
                  <a:cubicBezTo>
                    <a:pt x="50038" y="1024890"/>
                    <a:pt x="0" y="974852"/>
                    <a:pt x="0" y="913130"/>
                  </a:cubicBezTo>
                  <a:close/>
                </a:path>
              </a:pathLst>
            </a:custGeom>
            <a:solidFill>
              <a:srgbClr val="0E4448"/>
            </a:solidFill>
            <a:ln w="14288" cap="sq">
              <a:solidFill>
                <a:srgbClr val="FF66C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851660" y="4869180"/>
            <a:ext cx="4800600" cy="754380"/>
            <a:chOff x="0" y="0"/>
            <a:chExt cx="6400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00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C3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Digite o nome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0196" y="5890736"/>
            <a:ext cx="5363528" cy="768668"/>
            <a:chOff x="0" y="0"/>
            <a:chExt cx="7151370" cy="1024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715137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7039610" y="0"/>
                  </a:lnTo>
                  <a:cubicBezTo>
                    <a:pt x="7101332" y="0"/>
                    <a:pt x="7151370" y="50038"/>
                    <a:pt x="7151370" y="111760"/>
                  </a:cubicBezTo>
                  <a:lnTo>
                    <a:pt x="7151370" y="913130"/>
                  </a:lnTo>
                  <a:cubicBezTo>
                    <a:pt x="7151370" y="974852"/>
                    <a:pt x="7101332" y="1024890"/>
                    <a:pt x="7039610" y="1024890"/>
                  </a:cubicBezTo>
                  <a:lnTo>
                    <a:pt x="111760" y="1024890"/>
                  </a:lnTo>
                  <a:cubicBezTo>
                    <a:pt x="50038" y="1024890"/>
                    <a:pt x="0" y="974852"/>
                    <a:pt x="0" y="913130"/>
                  </a:cubicBezTo>
                  <a:close/>
                </a:path>
              </a:pathLst>
            </a:custGeom>
            <a:solidFill>
              <a:srgbClr val="0E4448"/>
            </a:solidFill>
            <a:ln w="14288" cap="sq">
              <a:solidFill>
                <a:srgbClr val="FF66C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851660" y="5897880"/>
            <a:ext cx="4800600" cy="754380"/>
            <a:chOff x="0" y="0"/>
            <a:chExt cx="640080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008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C3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7340" y="6926580"/>
            <a:ext cx="5349240" cy="754380"/>
            <a:chOff x="0" y="0"/>
            <a:chExt cx="713232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1323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022592" y="0"/>
                  </a:lnTo>
                  <a:cubicBezTo>
                    <a:pt x="7083172" y="0"/>
                    <a:pt x="7132320" y="49149"/>
                    <a:pt x="7132320" y="109728"/>
                  </a:cubicBezTo>
                  <a:lnTo>
                    <a:pt x="7132320" y="896112"/>
                  </a:lnTo>
                  <a:cubicBezTo>
                    <a:pt x="7132320" y="956691"/>
                    <a:pt x="7083172" y="1005840"/>
                    <a:pt x="702259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77340" y="6926580"/>
            <a:ext cx="5349240" cy="754380"/>
            <a:chOff x="0" y="0"/>
            <a:chExt cx="713232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32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132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22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55280" y="2468880"/>
            <a:ext cx="9326880" cy="548640"/>
            <a:chOff x="0" y="0"/>
            <a:chExt cx="124358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35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4358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5E17E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Pontos-chave do formulário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55280" y="3223260"/>
            <a:ext cx="617220" cy="617220"/>
            <a:chOff x="0" y="0"/>
            <a:chExt cx="82296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955280" y="3223260"/>
            <a:ext cx="617220" cy="617220"/>
            <a:chOff x="0" y="0"/>
            <a:chExt cx="82296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846820" y="3182112"/>
            <a:ext cx="8366760" cy="480060"/>
            <a:chOff x="0" y="0"/>
            <a:chExt cx="1115568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55680" cy="640080"/>
            </a:xfrm>
            <a:custGeom>
              <a:avLst/>
              <a:gdLst/>
              <a:ahLst/>
              <a:cxnLst/>
              <a:rect r="r" b="b" t="t" l="l"/>
              <a:pathLst>
                <a:path h="6400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155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A2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action="loginAction.php"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846820" y="3634740"/>
            <a:ext cx="8366760" cy="548640"/>
            <a:chOff x="0" y="0"/>
            <a:chExt cx="111556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115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envia os dados por POST para a validação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955280" y="4389120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955280" y="4389120"/>
            <a:ext cx="617220" cy="617220"/>
            <a:chOff x="0" y="0"/>
            <a:chExt cx="82296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46820" y="4347972"/>
            <a:ext cx="8366760" cy="480060"/>
            <a:chOff x="0" y="0"/>
            <a:chExt cx="1115568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155680" cy="640080"/>
            </a:xfrm>
            <a:custGeom>
              <a:avLst/>
              <a:gdLst/>
              <a:ahLst/>
              <a:cxnLst/>
              <a:rect r="r" b="b" t="t" l="l"/>
              <a:pathLst>
                <a:path h="6400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1155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A2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name="txtNome" / name="txtSenha"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846820" y="4800600"/>
            <a:ext cx="8366760" cy="548640"/>
            <a:chOff x="0" y="0"/>
            <a:chExt cx="111556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115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chaves lidas com $_POST no destino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55280" y="5554980"/>
            <a:ext cx="617220" cy="617220"/>
            <a:chOff x="0" y="0"/>
            <a:chExt cx="82296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955280" y="5554980"/>
            <a:ext cx="617220" cy="617220"/>
            <a:chOff x="0" y="0"/>
            <a:chExt cx="82296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846820" y="5513832"/>
            <a:ext cx="8366760" cy="480060"/>
            <a:chOff x="0" y="0"/>
            <a:chExt cx="1115568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55680" cy="640080"/>
            </a:xfrm>
            <a:custGeom>
              <a:avLst/>
              <a:gdLst/>
              <a:ahLst/>
              <a:cxnLst/>
              <a:rect r="r" b="b" t="t" l="l"/>
              <a:pathLst>
                <a:path h="6400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1155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A2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type="password"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846820" y="5966460"/>
            <a:ext cx="8366760" cy="548640"/>
            <a:chOff x="0" y="0"/>
            <a:chExt cx="111556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115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evita exibir a senha digitada na tela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955280" y="6720840"/>
            <a:ext cx="617220" cy="617220"/>
            <a:chOff x="0" y="0"/>
            <a:chExt cx="822960" cy="822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955280" y="6720840"/>
            <a:ext cx="617220" cy="617220"/>
            <a:chOff x="0" y="0"/>
            <a:chExt cx="822960" cy="822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846820" y="6679692"/>
            <a:ext cx="8366760" cy="480060"/>
            <a:chOff x="0" y="0"/>
            <a:chExt cx="1115568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55680" cy="640080"/>
            </a:xfrm>
            <a:custGeom>
              <a:avLst/>
              <a:gdLst/>
              <a:ahLst/>
              <a:cxnLst/>
              <a:rect r="r" b="b" t="t" l="l"/>
              <a:pathLst>
                <a:path h="64008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1155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A2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required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846820" y="7132320"/>
            <a:ext cx="8366760" cy="548640"/>
            <a:chOff x="0" y="0"/>
            <a:chExt cx="111556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115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impede o envio de campos em branco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" y="9765792"/>
            <a:ext cx="12344400" cy="411480"/>
            <a:chOff x="0" y="0"/>
            <a:chExt cx="164592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senha exibida em texto puro no rascunho inicial é corrigida com type="password"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384280" y="9765792"/>
            <a:ext cx="6172200" cy="411480"/>
            <a:chOff x="0" y="0"/>
            <a:chExt cx="82296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Projeto Lista de Amigos — Login e CRUD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7955280" y="617220"/>
            <a:ext cx="1014984" cy="1097280"/>
          </a:xfrm>
          <a:custGeom>
            <a:avLst/>
            <a:gdLst/>
            <a:ahLst/>
            <a:cxnLst/>
            <a:rect r="r" b="b" t="t" l="l"/>
            <a:pathLst>
              <a:path h="1097280" w="1014984">
                <a:moveTo>
                  <a:pt x="0" y="0"/>
                </a:moveTo>
                <a:lnTo>
                  <a:pt x="1014984" y="0"/>
                </a:lnTo>
                <a:lnTo>
                  <a:pt x="1014984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Autenticação — loginAction.php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 formulário à confirmação de acesso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822960" cy="822960"/>
            <a:chOff x="0" y="0"/>
            <a:chExt cx="1097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53746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57400" y="2537460"/>
            <a:ext cx="6858000" cy="1165860"/>
            <a:chOff x="0" y="0"/>
            <a:chExt cx="914400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1408176"/>
                  </a:lnTo>
                  <a:cubicBezTo>
                    <a:pt x="9144000" y="1488948"/>
                    <a:pt x="9078468" y="1554480"/>
                    <a:pt x="89976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31720" y="2619756"/>
            <a:ext cx="6309360" cy="480060"/>
            <a:chOff x="0" y="0"/>
            <a:chExt cx="841248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Recebe nome e senha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31720" y="3113532"/>
            <a:ext cx="6309360" cy="480060"/>
            <a:chOff x="0" y="0"/>
            <a:chExt cx="84124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4124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6E"/>
                  </a:solidFill>
                  <a:latin typeface="Consolas"/>
                  <a:ea typeface="Consolas"/>
                  <a:cs typeface="Consolas"/>
                  <a:sym typeface="Consolas"/>
                </a:rPr>
                <a:t>$_POST['txtNome'] e $_POST['txtSenha']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1872" y="3662172"/>
            <a:ext cx="548640" cy="342900"/>
            <a:chOff x="0" y="0"/>
            <a:chExt cx="73152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A8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3977640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3977640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57400" y="3977640"/>
            <a:ext cx="6858000" cy="1165860"/>
            <a:chOff x="0" y="0"/>
            <a:chExt cx="914400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1408176"/>
                  </a:lnTo>
                  <a:cubicBezTo>
                    <a:pt x="9144000" y="1488948"/>
                    <a:pt x="9078468" y="1554480"/>
                    <a:pt x="89976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331720" y="4059936"/>
            <a:ext cx="6309360" cy="480060"/>
            <a:chOff x="0" y="0"/>
            <a:chExt cx="84124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 o banco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331720" y="4553712"/>
            <a:ext cx="6309360" cy="480060"/>
            <a:chOff x="0" y="0"/>
            <a:chExt cx="84124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84124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6E"/>
                  </a:solidFill>
                  <a:latin typeface="Consolas"/>
                  <a:ea typeface="Consolas"/>
                  <a:cs typeface="Consolas"/>
                  <a:sym typeface="Consolas"/>
                </a:rPr>
                <a:t>SELECT * FROM usuario WHERE nome = ...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1872" y="5102352"/>
            <a:ext cx="548640" cy="342900"/>
            <a:chOff x="0" y="0"/>
            <a:chExt cx="73152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A8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5417820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" y="5417820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7400" y="5417820"/>
            <a:ext cx="6858000" cy="1165860"/>
            <a:chOff x="0" y="0"/>
            <a:chExt cx="914400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1408176"/>
                  </a:lnTo>
                  <a:cubicBezTo>
                    <a:pt x="9144000" y="1488948"/>
                    <a:pt x="9078468" y="1554480"/>
                    <a:pt x="89976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331720" y="5500116"/>
            <a:ext cx="6309360" cy="480060"/>
            <a:chOff x="0" y="0"/>
            <a:chExt cx="841248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 a senha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31720" y="5993892"/>
            <a:ext cx="6309360" cy="480060"/>
            <a:chOff x="0" y="0"/>
            <a:chExt cx="84124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84124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6E"/>
                  </a:solidFill>
                  <a:latin typeface="Consolas"/>
                  <a:ea typeface="Consolas"/>
                  <a:cs typeface="Consolas"/>
                  <a:sym typeface="Consolas"/>
                </a:rPr>
                <a:t>$linha['senha'] == $senha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1872" y="6542532"/>
            <a:ext cx="548640" cy="342900"/>
            <a:chOff x="0" y="0"/>
            <a:chExt cx="731520" cy="457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A8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" y="6858000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0120" y="6858000"/>
            <a:ext cx="822960" cy="822960"/>
            <a:chOff x="0" y="0"/>
            <a:chExt cx="109728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057400" y="6858000"/>
            <a:ext cx="6858000" cy="1165860"/>
            <a:chOff x="0" y="0"/>
            <a:chExt cx="914400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1408176"/>
                  </a:lnTo>
                  <a:cubicBezTo>
                    <a:pt x="9144000" y="1488948"/>
                    <a:pt x="9078468" y="1554480"/>
                    <a:pt x="89976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331720" y="6940296"/>
            <a:ext cx="6309360" cy="480060"/>
            <a:chOff x="0" y="0"/>
            <a:chExt cx="8412480" cy="640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Grava a sessão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331720" y="7434072"/>
            <a:ext cx="6309360" cy="480060"/>
            <a:chOff x="0" y="0"/>
            <a:chExt cx="841248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84124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B6E"/>
                  </a:solidFill>
                  <a:latin typeface="Consolas"/>
                  <a:ea typeface="Consolas"/>
                  <a:cs typeface="Consolas"/>
                  <a:sym typeface="Consolas"/>
                </a:rPr>
                <a:t>$_SESSION['logado'] = $nome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54515" y="2527935"/>
            <a:ext cx="7905750" cy="6465570"/>
            <a:chOff x="0" y="0"/>
            <a:chExt cx="10541000" cy="8620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5410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105410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94315" y="0"/>
                  </a:lnTo>
                  <a:cubicBezTo>
                    <a:pt x="10475341" y="0"/>
                    <a:pt x="10541000" y="65659"/>
                    <a:pt x="10541000" y="146685"/>
                  </a:cubicBezTo>
                  <a:lnTo>
                    <a:pt x="10541000" y="8474075"/>
                  </a:lnTo>
                  <a:cubicBezTo>
                    <a:pt x="10541000" y="8555101"/>
                    <a:pt x="10475341" y="8620760"/>
                    <a:pt x="10394315" y="8620760"/>
                  </a:cubicBezTo>
                  <a:lnTo>
                    <a:pt x="146685" y="8620760"/>
                  </a:lnTo>
                  <a:cubicBezTo>
                    <a:pt x="65659" y="8620760"/>
                    <a:pt x="0" y="8555101"/>
                    <a:pt x="0" y="8474075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85800" y="9765792"/>
            <a:ext cx="12344400" cy="411480"/>
            <a:chOff x="0" y="0"/>
            <a:chExt cx="164592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 o nome não existir ou a senha não bater, o usuário volta ao index.php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84280" y="9765792"/>
            <a:ext cx="6172200" cy="411480"/>
            <a:chOff x="0" y="0"/>
            <a:chExt cx="82296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Projeto Lista de Amigos — Login e CRUD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9538396" y="740664"/>
            <a:ext cx="1281363" cy="973836"/>
          </a:xfrm>
          <a:custGeom>
            <a:avLst/>
            <a:gdLst/>
            <a:ahLst/>
            <a:cxnLst/>
            <a:rect r="r" b="b" t="t" l="l"/>
            <a:pathLst>
              <a:path h="973836" w="1281363">
                <a:moveTo>
                  <a:pt x="0" y="0"/>
                </a:moveTo>
                <a:lnTo>
                  <a:pt x="1281363" y="0"/>
                </a:lnTo>
                <a:lnTo>
                  <a:pt x="1281363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9806940" y="2708148"/>
            <a:ext cx="7200900" cy="602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session_start();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$nome  = $_POST['txtNome'];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$senha = $_POST['txtSenha'];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require_once 'conexaoBD.php';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$sql = "SELECT * FROM usuario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    WHERE nome = '".$nome."'";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$linha = mysqli_fetch_array(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       $conexao-&gt;query($sql));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if ($linha != null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&amp;&amp; $linha['senha'] == $senha) {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$_SESSION['logado'] = $nome;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// redireciona a principal.php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// 'Login Inválido!'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Sessões PHP ($_SESSION)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C3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Como o servidor "lembra" quem está logado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92440" cy="6652260"/>
            <a:chOff x="0" y="0"/>
            <a:chExt cx="10789920" cy="886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686800"/>
                  </a:lnTo>
                  <a:cubicBezTo>
                    <a:pt x="10789920" y="8787765"/>
                    <a:pt x="10708005" y="8869680"/>
                    <a:pt x="10607040" y="8869680"/>
                  </a:cubicBezTo>
                  <a:lnTo>
                    <a:pt x="182880" y="8869680"/>
                  </a:lnTo>
                  <a:cubicBezTo>
                    <a:pt x="81915" y="8869680"/>
                    <a:pt x="0" y="8787765"/>
                    <a:pt x="0" y="868680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43200"/>
            <a:ext cx="6858000" cy="548640"/>
            <a:chOff x="0" y="0"/>
            <a:chExt cx="9144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problema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360420"/>
            <a:ext cx="7269480" cy="1371600"/>
            <a:chOff x="0" y="0"/>
            <a:chExt cx="969264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969264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D7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protocolo HTTP não mantém estado: a cada requisição, o servidor não sabe se é o mesmo visitante da página anterior.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4869180"/>
            <a:ext cx="6858000" cy="548640"/>
            <a:chOff x="0" y="0"/>
            <a:chExt cx="9144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solução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3020" y="5486400"/>
            <a:ext cx="7269480" cy="2057400"/>
            <a:chOff x="0" y="0"/>
            <a:chExt cx="9692640" cy="274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9692640" cy="2838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D7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session_start() abre (ou retoma) uma sessão; os dados ficam em $_SESSION, disponíveis em qualquer página que chame session_start() novamente — por exemplo, o nome de quem fez login.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5935" y="2390775"/>
            <a:ext cx="8111490" cy="2899410"/>
            <a:chOff x="0" y="0"/>
            <a:chExt cx="10815320" cy="3865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1532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8153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668000" y="0"/>
                  </a:lnTo>
                  <a:cubicBezTo>
                    <a:pt x="10749407" y="0"/>
                    <a:pt x="10815320" y="65913"/>
                    <a:pt x="10815320" y="147320"/>
                  </a:cubicBezTo>
                  <a:lnTo>
                    <a:pt x="10815320" y="3718560"/>
                  </a:lnTo>
                  <a:cubicBezTo>
                    <a:pt x="10815320" y="3799967"/>
                    <a:pt x="10749407" y="3865880"/>
                    <a:pt x="1066800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738360" y="2570988"/>
            <a:ext cx="7406640" cy="246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// Gravando a sessão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session_start();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$_SESSION['Nome']  = 'Gabi';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$_SESSION['Idade'] = 17;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85935" y="5476875"/>
            <a:ext cx="8111490" cy="3585210"/>
            <a:chOff x="0" y="0"/>
            <a:chExt cx="10815320" cy="4780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15320" cy="4780280"/>
            </a:xfrm>
            <a:custGeom>
              <a:avLst/>
              <a:gdLst/>
              <a:ahLst/>
              <a:cxnLst/>
              <a:rect r="r" b="b" t="t" l="l"/>
              <a:pathLst>
                <a:path h="4780280" w="1081532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10668254" y="0"/>
                  </a:lnTo>
                  <a:cubicBezTo>
                    <a:pt x="10749535" y="0"/>
                    <a:pt x="10815320" y="65913"/>
                    <a:pt x="10815320" y="147066"/>
                  </a:cubicBezTo>
                  <a:lnTo>
                    <a:pt x="10815320" y="4633214"/>
                  </a:lnTo>
                  <a:cubicBezTo>
                    <a:pt x="10815320" y="4714494"/>
                    <a:pt x="10749407" y="4780280"/>
                    <a:pt x="1066825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738360" y="5657088"/>
            <a:ext cx="7406640" cy="314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// Lendo em outra página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session_start();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echo 'Nome: '.$_SESSION['Nome']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.' e idade: '.$_SESSION['Idade'];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// No projeto: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$_SESSION['logado'] = $nome;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85800" y="9765792"/>
            <a:ext cx="12344400" cy="411480"/>
            <a:chOff x="0" y="0"/>
            <a:chExt cx="164592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AFC7C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session_start() precisa ser chamado no início de toda página que usa $_SESSION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Bloqueando o acesso por URL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verificarAcesso.php protege cada página do CRUD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263140"/>
            <a:ext cx="15773400" cy="685800"/>
            <a:chOff x="0" y="0"/>
            <a:chExt cx="210312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 a verificação, digitar a URL de principal.php direto no navegador burla o login. A correção: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076575"/>
            <a:ext cx="8111490" cy="3173730"/>
            <a:chOff x="0" y="0"/>
            <a:chExt cx="10815320" cy="4231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5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4084447"/>
                  </a:lnTo>
                  <a:cubicBezTo>
                    <a:pt x="10815320" y="4165727"/>
                    <a:pt x="10749407" y="4231640"/>
                    <a:pt x="1066812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03020" y="3256788"/>
            <a:ext cx="7406640" cy="273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// verificarAcesso.php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if (!isset($_SESSION)) {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session_start();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if (!isset($_SESSION['logado'])) {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header('location:acessoNegado.php');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  die();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0120" y="6515100"/>
            <a:ext cx="8092440" cy="2537460"/>
            <a:chOff x="0" y="0"/>
            <a:chExt cx="10789920" cy="3383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899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3200400"/>
                  </a:lnTo>
                  <a:cubicBezTo>
                    <a:pt x="10789920" y="3301365"/>
                    <a:pt x="10708005" y="3383280"/>
                    <a:pt x="10607040" y="3383280"/>
                  </a:cubicBezTo>
                  <a:lnTo>
                    <a:pt x="182880" y="3383280"/>
                  </a:lnTo>
                  <a:cubicBezTo>
                    <a:pt x="81915" y="3383280"/>
                    <a:pt x="0" y="3301365"/>
                    <a:pt x="0" y="3200400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6789420"/>
            <a:ext cx="7269480" cy="480060"/>
            <a:chOff x="0" y="0"/>
            <a:chExt cx="969264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Depois, em toda página protegida: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7269480"/>
            <a:ext cx="7269480" cy="548640"/>
            <a:chOff x="0" y="0"/>
            <a:chExt cx="96926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28090"/>
                  </a:solidFill>
                  <a:latin typeface="Consolas"/>
                  <a:ea typeface="Consolas"/>
                  <a:cs typeface="Consolas"/>
                  <a:sym typeface="Consolas"/>
                </a:rPr>
                <a:t>&lt;?php require_once ('verificarAcesso.php'); ?&gt;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7886700"/>
            <a:ext cx="7269480" cy="960120"/>
            <a:chOff x="0" y="0"/>
            <a:chExt cx="969264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69264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Uma linha basta — inclui a checagem antes de qualquer conteúdo ser exibido.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64040" y="3086100"/>
            <a:ext cx="7886700" cy="5966460"/>
            <a:chOff x="0" y="0"/>
            <a:chExt cx="10515600" cy="7955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156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7772400"/>
                  </a:lnTo>
                  <a:cubicBezTo>
                    <a:pt x="10515600" y="7873365"/>
                    <a:pt x="10433685" y="7955280"/>
                    <a:pt x="103327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022B3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75520" y="3429000"/>
            <a:ext cx="6858000" cy="548640"/>
            <a:chOff x="0" y="0"/>
            <a:chExt cx="91440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Resultado sem login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4320540"/>
            <a:ext cx="6995160" cy="891540"/>
            <a:chOff x="0" y="0"/>
            <a:chExt cx="932688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26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326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217152" y="0"/>
                  </a:lnTo>
                  <a:cubicBezTo>
                    <a:pt x="9277731" y="0"/>
                    <a:pt x="9326880" y="49149"/>
                    <a:pt x="9326880" y="109728"/>
                  </a:cubicBezTo>
                  <a:lnTo>
                    <a:pt x="9326880" y="1078992"/>
                  </a:lnTo>
                  <a:cubicBezTo>
                    <a:pt x="9326880" y="1139571"/>
                    <a:pt x="9277731" y="1188720"/>
                    <a:pt x="9217152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75520" y="4320540"/>
            <a:ext cx="6995160" cy="891540"/>
            <a:chOff x="0" y="0"/>
            <a:chExt cx="932688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26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32688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22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Acesso NEGADO!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75520" y="5554980"/>
            <a:ext cx="7063740" cy="1920240"/>
            <a:chOff x="0" y="0"/>
            <a:chExt cx="9418320" cy="2560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18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77" r="0" b="-216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14300"/>
              <a:ext cx="9418320" cy="2674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D7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acessoNegado.php mostra a mensagem e um link de volta para index.php — o CRUD de amigos (cadastro, listagem) só aparece depois de um login válido.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7612380"/>
            <a:ext cx="6858000" cy="480060"/>
            <a:chOff x="0" y="0"/>
            <a:chExt cx="914400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Logout (logoutAction.php)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8092440"/>
            <a:ext cx="7063740" cy="891540"/>
            <a:chOff x="0" y="0"/>
            <a:chExt cx="941832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1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81" r="0" b="-1043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4183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7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unset($_SESSION['logado']); e header('location:index.php'); encerram a sessão e exigem novo login.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22B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Cookies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A6B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Outra forma de guardar dados no navegador do usuário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92440" cy="6652260"/>
            <a:chOff x="0" y="0"/>
            <a:chExt cx="10789920" cy="886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686800"/>
                  </a:lnTo>
                  <a:cubicBezTo>
                    <a:pt x="10789920" y="8787765"/>
                    <a:pt x="10708005" y="8869680"/>
                    <a:pt x="10607040" y="8869680"/>
                  </a:cubicBezTo>
                  <a:lnTo>
                    <a:pt x="182880" y="8869680"/>
                  </a:lnTo>
                  <a:cubicBezTo>
                    <a:pt x="81915" y="8869680"/>
                    <a:pt x="0" y="8787765"/>
                    <a:pt x="0" y="8686800"/>
                  </a:cubicBezTo>
                  <a:close/>
                </a:path>
              </a:pathLst>
            </a:custGeom>
            <a:solidFill>
              <a:srgbClr val="F4F9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43200"/>
            <a:ext cx="6858000" cy="548640"/>
            <a:chOff x="0" y="0"/>
            <a:chExt cx="9144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que é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360420"/>
            <a:ext cx="7269480" cy="1508760"/>
            <a:chOff x="0" y="0"/>
            <a:chExt cx="969264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96926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trocados entre navegador e servidor, salvos em arquivo de texto no computador do usuário — diferente da sessão, que fica no servidor.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5074920"/>
            <a:ext cx="7269480" cy="548640"/>
            <a:chOff x="0" y="0"/>
            <a:chExt cx="96926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setcookie(nome, valor, validade)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3020" y="5829300"/>
            <a:ext cx="164592" cy="164592"/>
            <a:chOff x="0" y="0"/>
            <a:chExt cx="219456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5614035"/>
            <a:ext cx="6858000" cy="576072"/>
            <a:chOff x="0" y="0"/>
            <a:chExt cx="914400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1º parâmetro: nome do cookie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6515100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5920" y="6316027"/>
            <a:ext cx="6858000" cy="576072"/>
            <a:chOff x="0" y="0"/>
            <a:chExt cx="914400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2º parâmetro: valor armazenado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" y="7200900"/>
            <a:ext cx="164592" cy="164592"/>
            <a:chOff x="0" y="0"/>
            <a:chExt cx="219456" cy="2194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5920" y="7006399"/>
            <a:ext cx="6858000" cy="576072"/>
            <a:chOff x="0" y="0"/>
            <a:chExt cx="9144000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3º parâmetro (opcional): tempo de vida, em segundos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54515" y="2390775"/>
            <a:ext cx="7905750" cy="2762250"/>
            <a:chOff x="0" y="0"/>
            <a:chExt cx="10541000" cy="368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4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5410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393680" y="0"/>
                  </a:lnTo>
                  <a:cubicBezTo>
                    <a:pt x="10475087" y="0"/>
                    <a:pt x="10541000" y="65913"/>
                    <a:pt x="10541000" y="147320"/>
                  </a:cubicBezTo>
                  <a:lnTo>
                    <a:pt x="10541000" y="3535680"/>
                  </a:lnTo>
                  <a:cubicBezTo>
                    <a:pt x="10541000" y="3617087"/>
                    <a:pt x="10475087" y="3683000"/>
                    <a:pt x="1039368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454515" y="5476875"/>
            <a:ext cx="7905750" cy="3585210"/>
            <a:chOff x="0" y="0"/>
            <a:chExt cx="10541000" cy="4780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41000" cy="4780280"/>
            </a:xfrm>
            <a:custGeom>
              <a:avLst/>
              <a:gdLst/>
              <a:ahLst/>
              <a:cxnLst/>
              <a:rect r="r" b="b" t="t" l="l"/>
              <a:pathLst>
                <a:path h="4780280" w="1054100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10393934" y="0"/>
                  </a:lnTo>
                  <a:cubicBezTo>
                    <a:pt x="10475087" y="0"/>
                    <a:pt x="10541000" y="65913"/>
                    <a:pt x="10541000" y="147066"/>
                  </a:cubicBezTo>
                  <a:lnTo>
                    <a:pt x="10541000" y="4633214"/>
                  </a:lnTo>
                  <a:cubicBezTo>
                    <a:pt x="10541000" y="4714494"/>
                    <a:pt x="10475087" y="4780280"/>
                    <a:pt x="1039393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0B3538"/>
            </a:solidFill>
            <a:ln w="19050" cap="sq">
              <a:solidFill>
                <a:srgbClr val="0B3538"/>
              </a:solidFill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5822674" y="1276329"/>
            <a:ext cx="1436626" cy="876342"/>
          </a:xfrm>
          <a:custGeom>
            <a:avLst/>
            <a:gdLst/>
            <a:ahLst/>
            <a:cxnLst/>
            <a:rect r="r" b="b" t="t" l="l"/>
            <a:pathLst>
              <a:path h="876342" w="1436626">
                <a:moveTo>
                  <a:pt x="0" y="0"/>
                </a:moveTo>
                <a:lnTo>
                  <a:pt x="1436626" y="0"/>
                </a:lnTo>
                <a:lnTo>
                  <a:pt x="1436626" y="876342"/>
                </a:lnTo>
                <a:lnTo>
                  <a:pt x="0" y="876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806940" y="2570988"/>
            <a:ext cx="7200900" cy="232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setcookie('usuario', 'gabi');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06940" y="5657088"/>
            <a:ext cx="7200900" cy="314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// Cookie válido por 1 dia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setcookie(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'usuario',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'gabi',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  time() + (24 * 3600)</a:t>
            </a:r>
          </a:p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D7F5EE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58368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28090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15087600" cy="960120"/>
            <a:chOff x="0" y="0"/>
            <a:chExt cx="201168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Competências desenvolvidas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71450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C3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 cadastro simples a um sistema com autenticação de verdade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948940"/>
            <a:ext cx="7680960" cy="1783080"/>
            <a:chOff x="0" y="0"/>
            <a:chExt cx="1024128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401568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340156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0300" y="3473958"/>
            <a:ext cx="6035040" cy="480060"/>
            <a:chOff x="0" y="0"/>
            <a:chExt cx="804672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Reuso de código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00300" y="3675888"/>
            <a:ext cx="6035040" cy="891540"/>
            <a:chOff x="0" y="0"/>
            <a:chExt cx="804672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include / require / require_once para arquivos compartilhados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0" y="2948940"/>
            <a:ext cx="7680960" cy="1783080"/>
            <a:chOff x="0" y="0"/>
            <a:chExt cx="1024128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32620" y="3401568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32620" y="3401568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29900" y="3451860"/>
            <a:ext cx="6035040" cy="480060"/>
            <a:chOff x="0" y="0"/>
            <a:chExt cx="80467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Persistência de dados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29900" y="3675888"/>
            <a:ext cx="6035040" cy="891540"/>
            <a:chOff x="0" y="0"/>
            <a:chExt cx="8046720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Conexão e consultas ao MySQL com MySQLi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120" y="5074920"/>
            <a:ext cx="7680960" cy="1783080"/>
            <a:chOff x="0" y="0"/>
            <a:chExt cx="10241280" cy="2377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03020" y="5527548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03020" y="5527548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400300" y="5590413"/>
            <a:ext cx="6035040" cy="480060"/>
            <a:chOff x="0" y="0"/>
            <a:chExt cx="804672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Controle de estado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400300" y="5801868"/>
            <a:ext cx="6035040" cy="891540"/>
            <a:chOff x="0" y="0"/>
            <a:chExt cx="804672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Sessões ($_SESSION) mantendo o usuário autenticado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89720" y="5074920"/>
            <a:ext cx="7680960" cy="1783080"/>
            <a:chOff x="0" y="0"/>
            <a:chExt cx="10241280" cy="2377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32620" y="5527548"/>
            <a:ext cx="822960" cy="822960"/>
            <a:chOff x="0" y="0"/>
            <a:chExt cx="109728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532620" y="5527548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29900" y="5571363"/>
            <a:ext cx="6035040" cy="480060"/>
            <a:chOff x="0" y="0"/>
            <a:chExt cx="804672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Segurança de acesso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29900" y="5801868"/>
            <a:ext cx="6035040" cy="891540"/>
            <a:chOff x="0" y="0"/>
            <a:chExt cx="804672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Bloqueio de páginas contra acesso direto por URL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7200900"/>
            <a:ext cx="7680960" cy="1783080"/>
            <a:chOff x="0" y="0"/>
            <a:chExt cx="10241280" cy="2377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03020" y="7653528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7653528"/>
            <a:ext cx="822960" cy="822960"/>
            <a:chOff x="0" y="0"/>
            <a:chExt cx="1097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400300" y="7715250"/>
            <a:ext cx="6035040" cy="480060"/>
            <a:chOff x="0" y="0"/>
            <a:chExt cx="804672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Armazenamento no cliente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400300" y="7927848"/>
            <a:ext cx="6035040" cy="891540"/>
            <a:chOff x="0" y="0"/>
            <a:chExt cx="804672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Cookies com setcookie() e tempo de expiração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89720" y="7200900"/>
            <a:ext cx="7680960" cy="1783080"/>
            <a:chOff x="0" y="0"/>
            <a:chExt cx="10241280" cy="2377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2194560"/>
                  </a:lnTo>
                  <a:cubicBezTo>
                    <a:pt x="10241280" y="2295525"/>
                    <a:pt x="10159365" y="2377440"/>
                    <a:pt x="10058400" y="2377440"/>
                  </a:cubicBezTo>
                  <a:lnTo>
                    <a:pt x="182880" y="2377440"/>
                  </a:lnTo>
                  <a:cubicBezTo>
                    <a:pt x="81915" y="2377440"/>
                    <a:pt x="0" y="2295525"/>
                    <a:pt x="0" y="2194560"/>
                  </a:cubicBezTo>
                  <a:close/>
                </a:path>
              </a:pathLst>
            </a:custGeom>
            <a:solidFill>
              <a:srgbClr val="0B353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32620" y="7653528"/>
            <a:ext cx="822960" cy="822960"/>
            <a:chOff x="0" y="0"/>
            <a:chExt cx="109728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532620" y="7653528"/>
            <a:ext cx="822960" cy="822960"/>
            <a:chOff x="0" y="0"/>
            <a:chExt cx="109728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5"/>
                </a:lnSpc>
              </a:pPr>
              <a:r>
                <a:rPr lang="en-US" sz="19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629900" y="7715250"/>
            <a:ext cx="6035040" cy="480060"/>
            <a:chOff x="0" y="0"/>
            <a:chExt cx="8046720" cy="6400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046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Publicação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29900" y="7889748"/>
            <a:ext cx="6035040" cy="891540"/>
            <a:chOff x="0" y="0"/>
            <a:chExt cx="8046720" cy="11887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046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FDA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Domínio e hospedagem para colocar o projeto no ar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0120" y="9395460"/>
            <a:ext cx="10972800" cy="548640"/>
            <a:chOff x="0" y="0"/>
            <a:chExt cx="1463040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Obrigada! s2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DAHWbA1NS7o</dc:identifier>
  <dcterms:modified xsi:type="dcterms:W3CDTF">2011-08-01T06:04:30Z</dcterms:modified>
  <cp:revision>1</cp:revision>
  <dc:title>adrielle_agenda_08_ds_II</dc:title>
</cp:coreProperties>
</file>